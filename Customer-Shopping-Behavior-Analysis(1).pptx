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consolata Medium"/>
      <p:regular r:id="rId201314"/>
    </p:embeddedFont>
    <p:embeddedFont>
      <p:font typeface="Inconsolata"/>
      <p:regular r:id="rId201315"/>
    </p:embeddedFont>
    <p:embeddedFont>
      <p:font typeface="Inconsolata ExtraBold"/>
      <p:regular r:id="rId201316"/>
    </p:embeddedFont>
    <p:embeddedFont>
      <p:font typeface="Inconsolata Black"/>
      <p:regular r:id="rId201317"/>
    </p:embeddedFont>
    <p:embeddedFont>
      <p:font typeface="Inconsolata ExtraLight"/>
      <p:regular r:id="rId201318"/>
    </p:embeddedFont>
    <p:embeddedFont>
      <p:font typeface="Inconsolata Light"/>
      <p:regular r:id="rId201319"/>
    </p:embeddedFont>
    <p:embeddedFont>
      <p:font typeface="Inconsolata SemiBold"/>
      <p:regular r:id="rId201320"/>
    </p:embeddedFont>
    <p:embeddedFont>
      <p:font typeface="Inconsolata Bold"/>
      <p:regular r:id="rId201321"/>
    </p:embeddedFont>
    <p:embeddedFont>
      <p:font typeface="Montserrat Thin"/>
      <p:regular r:id="rId201322"/>
    </p:embeddedFont>
    <p:embeddedFont>
      <p:font typeface="Montserrat"/>
      <p:regular r:id="rId201323"/>
    </p:embeddedFont>
    <p:embeddedFont>
      <p:font typeface="Montserrat SemiBold"/>
      <p:regular r:id="rId201324"/>
    </p:embeddedFont>
    <p:embeddedFont>
      <p:font typeface="Montserrat Bold"/>
      <p:regular r:id="rId201325"/>
    </p:embeddedFont>
    <p:embeddedFont>
      <p:font typeface="Montserrat Black"/>
      <p:regular r:id="rId201326"/>
    </p:embeddedFont>
    <p:embeddedFont>
      <p:font typeface="Montserrat Light"/>
      <p:regular r:id="rId201327"/>
    </p:embeddedFont>
    <p:embeddedFont>
      <p:font typeface="Montserrat ExtraLight"/>
      <p:regular r:id="rId201328"/>
    </p:embeddedFont>
    <p:embeddedFont>
      <p:font typeface="Montserrat Medium"/>
      <p:regular r:id="rId201329"/>
    </p:embeddedFont>
    <p:embeddedFont>
      <p:font typeface="Montserrat ExtraBold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3,900 purchases • 18 columns • goal: uncover spending patterns, segments, preferences, subscriptions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7710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Snapshot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2032695"/>
            <a:ext cx="1479724" cy="1733624"/>
          </a:xfrm>
          <a:prstGeom prst="roundRect">
            <a:avLst>
              <a:gd name="adj" fmla="val 386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7780" dir="2700000">
              <a:srgbClr val="15161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2640" y="2179216"/>
            <a:ext cx="1186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Volume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485727"/>
            <a:ext cx="1186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Rows: 3,900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117601" y="2032695"/>
            <a:ext cx="1479724" cy="1733624"/>
          </a:xfrm>
          <a:prstGeom prst="roundRect">
            <a:avLst>
              <a:gd name="adj" fmla="val 386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7780" dir="2700000">
              <a:srgbClr val="15161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264122" y="2179216"/>
            <a:ext cx="1186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264122" y="2485727"/>
            <a:ext cx="118668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18 columns — demographics, purchase details, behavior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39083" y="2032695"/>
            <a:ext cx="1479724" cy="1733624"/>
          </a:xfrm>
          <a:prstGeom prst="roundRect">
            <a:avLst>
              <a:gd name="adj" fmla="val 386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7780" dir="2700000">
              <a:srgbClr val="15161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885605" y="2179216"/>
            <a:ext cx="1186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Missing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885605" y="2485727"/>
            <a:ext cx="1186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Review Rating missing: 37 values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2729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Preparation (Python)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13706"/>
            <a:ext cx="5213524" cy="29325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7590" y="898103"/>
            <a:ext cx="199355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5957590" y="1053108"/>
            <a:ext cx="2694980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6" name="Text 3"/>
          <p:cNvSpPr/>
          <p:nvPr/>
        </p:nvSpPr>
        <p:spPr>
          <a:xfrm>
            <a:off x="5957590" y="1131466"/>
            <a:ext cx="269498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Load &amp; Explore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957590" y="1357164"/>
            <a:ext cx="269498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pandas, df.info(), describe()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957590" y="1637705"/>
            <a:ext cx="199355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5957590" y="1792709"/>
            <a:ext cx="2694980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0" name="Text 7"/>
          <p:cNvSpPr/>
          <p:nvPr/>
        </p:nvSpPr>
        <p:spPr>
          <a:xfrm>
            <a:off x="5957590" y="1871067"/>
            <a:ext cx="269498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Impute Ratings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57590" y="2096765"/>
            <a:ext cx="269498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Median per product category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957590" y="2377306"/>
            <a:ext cx="199355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957590" y="2532311"/>
            <a:ext cx="2694980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4" name="Text 11"/>
          <p:cNvSpPr/>
          <p:nvPr/>
        </p:nvSpPr>
        <p:spPr>
          <a:xfrm>
            <a:off x="5957590" y="2610669"/>
            <a:ext cx="269498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Standardize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957590" y="2836366"/>
            <a:ext cx="269498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rename → snake_case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957590" y="3116907"/>
            <a:ext cx="199355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957590" y="3271912"/>
            <a:ext cx="2694980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8" name="Text 15"/>
          <p:cNvSpPr/>
          <p:nvPr/>
        </p:nvSpPr>
        <p:spPr>
          <a:xfrm>
            <a:off x="5957590" y="3350270"/>
            <a:ext cx="269498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Feature Eng.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957590" y="3575968"/>
            <a:ext cx="269498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age_group, purchase_frequency_days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957590" y="3856509"/>
            <a:ext cx="199355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957590" y="4011513"/>
            <a:ext cx="2694980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2" name="Text 19"/>
          <p:cNvSpPr/>
          <p:nvPr/>
        </p:nvSpPr>
        <p:spPr>
          <a:xfrm>
            <a:off x="5957590" y="4089871"/>
            <a:ext cx="269498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Drop Redundancy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957590" y="4315569"/>
            <a:ext cx="2694980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promo_code_used removed (redundant with discount_applied)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2463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Database Integration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40806"/>
            <a:ext cx="3053135" cy="1717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892" y="2007766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Cleaned DataFrame loaded to PostgreSQL for SQL analysis and business queries.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899892" y="2620863"/>
            <a:ext cx="2305422" cy="1138461"/>
          </a:xfrm>
          <a:prstGeom prst="roundRect">
            <a:avLst>
              <a:gd name="adj" fmla="val 502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7780" dir="2700000">
              <a:srgbClr val="151617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060701" y="2781672"/>
            <a:ext cx="19838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Why SQL?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0701" y="3144887"/>
            <a:ext cx="19838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Structured queries, aggregations, segmentation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47073" y="2620863"/>
            <a:ext cx="2305496" cy="1138461"/>
          </a:xfrm>
          <a:prstGeom prst="roundRect">
            <a:avLst>
              <a:gd name="adj" fmla="val 502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7780" dir="2700000">
              <a:srgbClr val="151617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07882" y="2781672"/>
            <a:ext cx="19838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Outcome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07882" y="3144887"/>
            <a:ext cx="198387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Answer business questions at scale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0429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SQL Findings — Revenue &amp; Spending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330797"/>
            <a:ext cx="571798" cy="3533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5096" y="2330797"/>
            <a:ext cx="18501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Revenue by Gender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45096" y="2858765"/>
            <a:ext cx="18501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Female: 75,191 • Male: 157,890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330797"/>
            <a:ext cx="571798" cy="3533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1410" y="2330797"/>
            <a:ext cx="18501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High-Spend Discount Users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21410" y="2858765"/>
            <a:ext cx="18501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839 rows — customers used discounts but spent above average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330797"/>
            <a:ext cx="571798" cy="3533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97725" y="2330797"/>
            <a:ext cx="18501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Top Rated Items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797725" y="2637309"/>
            <a:ext cx="18501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Gloves 3.86 • Sandals 3.84 • Boots 3.82 • Hat 3.80 • Skirt 3.78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822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Shipping, Subscriptions &amp; Repeat Behavior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64866"/>
            <a:ext cx="5177582" cy="291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838176"/>
            <a:ext cx="2628230" cy="2643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Shipping avg spend — Standard: 58.46 • Express: 60.48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Subscribers: 1,053 customers — avg spend 59.49 — total revenue 62,645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Non-subscribers: 2,847 — avg spend 59.87 — total revenue 170,436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Repeat buyers (&gt;5 purchases): more likely to subscribe (data shown)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8373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Product &amp; Discount Insights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28824"/>
            <a:ext cx="5181377" cy="291450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7270" y="1216670"/>
            <a:ext cx="343272" cy="3432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26783" y="1216670"/>
            <a:ext cx="212578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Discount-Dependent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526783" y="1564184"/>
            <a:ext cx="212578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Top items with high discount rates: Hat 50% • Sneakers 49.66% • Coat 49.07% • Sweater 48.17% • Pants 47.37%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7270" y="2695501"/>
            <a:ext cx="343272" cy="3432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26783" y="2695501"/>
            <a:ext cx="2125787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Top Products by Category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526783" y="3257550"/>
            <a:ext cx="2125787" cy="129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Accessories: Jewelry, Sunglasses, Belt — Clothing: Blouse, Pants, Shirt — Footwear: Sandals, Shoes, Sneakers — Outerwear: Jacket, Coat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82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Customer Segments &amp; Age Revenue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43335"/>
            <a:ext cx="5177582" cy="291234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24339" y="1605335"/>
            <a:ext cx="2628230" cy="1109886"/>
          </a:xfrm>
          <a:prstGeom prst="roundRect">
            <a:avLst>
              <a:gd name="adj" fmla="val 515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7780" dir="2700000">
              <a:srgbClr val="15161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70861" y="1751856"/>
            <a:ext cx="23351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Segments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70861" y="2115071"/>
            <a:ext cx="23351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Loyal: 3,116 • Returning: 701 • New: 83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24339" y="2856979"/>
            <a:ext cx="2628230" cy="1336700"/>
          </a:xfrm>
          <a:prstGeom prst="roundRect">
            <a:avLst>
              <a:gd name="adj" fmla="val 42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7780" dir="2700000">
              <a:srgbClr val="15161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70861" y="3003500"/>
            <a:ext cx="23351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Revenue by Age Group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170861" y="3366715"/>
            <a:ext cx="233518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Young Adult 62,143 • Middle-aged 59,197 • Adult 55,978 • Senior 55,763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0250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Power BI Dashboard Highlights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01082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3.9K customers • Avg purchase $59.76 • Avg rating 3.75 • Subscriptions: Yes 27% / No 73%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Top revenue: Clothing (~90K) • Sales: Clothing (~1,800)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370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00213"/>
            <a:ext cx="1931566" cy="15014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640" y="1846734"/>
            <a:ext cx="16385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42640" y="2374702"/>
            <a:ext cx="16385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43" y="1700213"/>
            <a:ext cx="1931640" cy="15014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15964" y="1846734"/>
            <a:ext cx="163859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715964" y="2374702"/>
            <a:ext cx="163859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Reward repeat buyers to grow "Loyal" segment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842" y="1700213"/>
            <a:ext cx="1931640" cy="15014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89363" y="1846734"/>
            <a:ext cx="163859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789363" y="2374702"/>
            <a:ext cx="163859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Balance sales lift with margin control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16241" y="1700213"/>
            <a:ext cx="1931640" cy="15014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62763" y="1846734"/>
            <a:ext cx="163859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862763" y="2374702"/>
            <a:ext cx="163859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Highlight top-rated &amp; best-selling items in campaigns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343424"/>
            <a:ext cx="8151763" cy="8263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2640" y="3489945"/>
            <a:ext cx="7858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42640" y="3796457"/>
            <a:ext cx="7858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Focus on high-revenue age groups and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2026-07-17T01:41:10Z</dcterms:created>
  <dcterms:modified xsi:type="dcterms:W3CDTF">2026-07-17T01:41:10Z</dcterms:modified>
</cp:coreProperties>
</file>